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  <p:embeddedFontLst>
    <p:embeddedFont>
      <p:font typeface="Albert Sans"/>
      <p:regular r:id="rId13"/>
      <p:bold r:id="rId14"/>
      <p:italic r:id="rId15"/>
      <p:boldItalic r:id="rId16"/>
    </p:embeddedFont>
    <p:embeddedFont>
      <p:font typeface="Arial Unicode M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_1_Albert_Sans_Regular.fntdata"/><Relationship Id="rId14" Type="http://schemas.openxmlformats.org/officeDocument/2006/relationships/font" Target="fonts/Font_2_Albert_Sans_Bold.fntdata"/><Relationship Id="rId15" Type="http://schemas.openxmlformats.org/officeDocument/2006/relationships/font" Target="fonts/Font_3_Albert_Sans_Italic.fntdata"/><Relationship Id="rId16" Type="http://schemas.openxmlformats.org/officeDocument/2006/relationships/font" Target="fonts/Font_4_Albert_Sans_BoldItalic.fntdata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1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1;p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0000" lnSpcReduction="19999"/>
          </a:bodyPr>
          <a:lstStyle>
            <a:lvl1pPr indent="0" algn="l">
              <a:buNone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Google Shape;44;p11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pt-BR" sz="4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48;p1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3F86C5-7580-4ECA-A9CD-6AD68DC67227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45920" y="230040"/>
            <a:ext cx="7817760" cy="138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pt-BR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702360" y="1688400"/>
            <a:ext cx="7765920" cy="248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53;p1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269720"/>
            <a:ext cx="8520120" cy="34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57;p1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1432440"/>
            <a:ext cx="3924000" cy="227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889520" y="756360"/>
            <a:ext cx="392400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Google Shape;61;p1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22968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27780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32556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_1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66;p1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540000" y="538920"/>
            <a:ext cx="8063280" cy="406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69;p17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71;p18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99840" y="709200"/>
            <a:ext cx="7697880" cy="167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pt-BR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75;p19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99840" y="709200"/>
            <a:ext cx="7697880" cy="167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pt-BR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;p1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399A56-C75C-4F52-BA87-BB8DE57D04C4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Google Shape;14;p3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pt-BR" sz="4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8;p4"/>
          <p:cNvPicPr/>
          <p:nvPr/>
        </p:nvPicPr>
        <p:blipFill>
          <a:blip r:embed="rId3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45920" y="230040"/>
            <a:ext cx="781776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pt-BR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02360" y="1688400"/>
            <a:ext cx="7765920" cy="248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22;p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11760" y="1269720"/>
            <a:ext cx="8520120" cy="34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26;p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28;p7"/>
          <p:cNvPicPr/>
          <p:nvPr/>
        </p:nvPicPr>
        <p:blipFill>
          <a:blip r:embed="rId3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686520"/>
            <a:ext cx="3924000" cy="376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889520" y="756360"/>
            <a:ext cx="392400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32;p8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body"/>
          </p:nvPr>
        </p:nvSpPr>
        <p:spPr>
          <a:xfrm>
            <a:off x="22968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27780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32556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01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37;p9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540000" y="538920"/>
            <a:ext cx="8063280" cy="406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9;p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4F3EF8-BF9C-4085-84A9-BDE68E888B1E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Google Shape;41;p10"/>
          <p:cNvPicPr/>
          <p:nvPr/>
        </p:nvPicPr>
        <p:blipFill>
          <a:blip r:embed="rId3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3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Apresentação T1</a:t>
            </a:r>
            <a:endParaRPr lang="pt-BR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177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1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Alunos: Raphael Albuquerque 2413093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1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          Vinicius Freitas 2422972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Orientador: Prof. Me. Ricardo Carubbi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Disciplina: GRAFOS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Centro de Ciências Tecnológicas - CCT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Universidade de Fortaleza - UNIFOR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45920" y="230040"/>
            <a:ext cx="7817760" cy="12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pt-BR" sz="3500" b="0" u="none" strike="noStrike">
              <a:solidFill>
                <a:schemeClr val="dk1"/>
              </a:solidFill>
              <a:effectLst/>
              <a:uFillTx/>
              <a:latin typeface="Albert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745920" y="1525680"/>
            <a:ext cx="7765920" cy="275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Agenda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Problema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Modelagem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Representação Computacional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DFS / BFS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Validação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PROBLEMA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269720"/>
            <a:ext cx="8520120" cy="34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Contador de Cômodos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32190"/>
              </a:buClr>
              <a:buFont typeface="Albert Sans"/>
              <a:buChar char="●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Entrada :                                          Saída : 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        5 8 </a:t>
            </a:r>
            <a:br>
              <a:rPr sz="1400"/>
            </a:b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########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# .  . # .  .  . #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#### . # . #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# .  . # .  .  . #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  ########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MODELAGEM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11760" y="1269720"/>
            <a:ext cx="8520120" cy="34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Albert Sans"/>
            </a:endParaRPr>
          </a:p>
        </p:txBody>
      </p:sp>
      <p:sp>
        <p:nvSpPr>
          <p:cNvPr id="78" name="Elipse 3"/>
          <p:cNvSpPr/>
          <p:nvPr/>
        </p:nvSpPr>
        <p:spPr>
          <a:xfrm>
            <a:off x="988920" y="18964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9" name="Elipse 4"/>
          <p:cNvSpPr/>
          <p:nvPr/>
        </p:nvSpPr>
        <p:spPr>
          <a:xfrm>
            <a:off x="1818360" y="18964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0" name="Elipse 6"/>
          <p:cNvSpPr/>
          <p:nvPr/>
        </p:nvSpPr>
        <p:spPr>
          <a:xfrm>
            <a:off x="988920" y="350532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1" name="Elipse 7"/>
          <p:cNvSpPr/>
          <p:nvPr/>
        </p:nvSpPr>
        <p:spPr>
          <a:xfrm>
            <a:off x="1818360" y="350532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Elipse 9"/>
          <p:cNvSpPr/>
          <p:nvPr/>
        </p:nvSpPr>
        <p:spPr>
          <a:xfrm>
            <a:off x="3003840" y="18964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Elipse 10"/>
          <p:cNvSpPr/>
          <p:nvPr/>
        </p:nvSpPr>
        <p:spPr>
          <a:xfrm>
            <a:off x="3979440" y="18964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Elipse 11"/>
          <p:cNvSpPr/>
          <p:nvPr/>
        </p:nvSpPr>
        <p:spPr>
          <a:xfrm>
            <a:off x="4954680" y="18964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5" name="Elipse 12"/>
          <p:cNvSpPr/>
          <p:nvPr/>
        </p:nvSpPr>
        <p:spPr>
          <a:xfrm>
            <a:off x="3003840" y="26488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Elipse 13"/>
          <p:cNvSpPr/>
          <p:nvPr/>
        </p:nvSpPr>
        <p:spPr>
          <a:xfrm>
            <a:off x="4954680" y="264888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7" name="Elipse 14"/>
          <p:cNvSpPr/>
          <p:nvPr/>
        </p:nvSpPr>
        <p:spPr>
          <a:xfrm>
            <a:off x="4954680" y="350532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8" name="Elipse 15"/>
          <p:cNvSpPr/>
          <p:nvPr/>
        </p:nvSpPr>
        <p:spPr>
          <a:xfrm>
            <a:off x="3979440" y="350532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Elipse 16"/>
          <p:cNvSpPr/>
          <p:nvPr/>
        </p:nvSpPr>
        <p:spPr>
          <a:xfrm>
            <a:off x="3003840" y="3505320"/>
            <a:ext cx="209520" cy="2502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ector reto 18"/>
          <p:cNvCxnSpPr/>
          <p:nvPr/>
        </p:nvCxnSpPr>
        <p:spPr>
          <a:xfrm>
            <a:off x="1293480" y="2021760"/>
            <a:ext cx="44748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1" name="Conector reto 21"/>
          <p:cNvCxnSpPr/>
          <p:nvPr/>
        </p:nvCxnSpPr>
        <p:spPr>
          <a:xfrm>
            <a:off x="1293480" y="3637080"/>
            <a:ext cx="44748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2" name="Conector reto 22"/>
          <p:cNvCxnSpPr/>
          <p:nvPr/>
        </p:nvCxnSpPr>
        <p:spPr>
          <a:xfrm>
            <a:off x="3369600" y="2021760"/>
            <a:ext cx="44748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3" name="Conector reto 23"/>
          <p:cNvCxnSpPr/>
          <p:nvPr/>
        </p:nvCxnSpPr>
        <p:spPr>
          <a:xfrm>
            <a:off x="4348440" y="2021760"/>
            <a:ext cx="44712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4" name="Conector reto 24"/>
          <p:cNvCxnSpPr/>
          <p:nvPr/>
        </p:nvCxnSpPr>
        <p:spPr>
          <a:xfrm>
            <a:off x="3369600" y="3637080"/>
            <a:ext cx="44748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5" name="Conector reto 25"/>
          <p:cNvCxnSpPr/>
          <p:nvPr/>
        </p:nvCxnSpPr>
        <p:spPr>
          <a:xfrm>
            <a:off x="4348440" y="3637080"/>
            <a:ext cx="447120" cy="36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6" name="Conector reto 26"/>
          <p:cNvCxnSpPr/>
          <p:nvPr/>
        </p:nvCxnSpPr>
        <p:spPr>
          <a:xfrm flipV="1">
            <a:off x="3108600" y="2219400"/>
            <a:ext cx="360" cy="35244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7" name="Conector reto 28"/>
          <p:cNvCxnSpPr/>
          <p:nvPr/>
        </p:nvCxnSpPr>
        <p:spPr>
          <a:xfrm flipV="1">
            <a:off x="3108600" y="3004920"/>
            <a:ext cx="360" cy="35280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8" name="Conector reto 29"/>
          <p:cNvCxnSpPr/>
          <p:nvPr/>
        </p:nvCxnSpPr>
        <p:spPr>
          <a:xfrm flipV="1">
            <a:off x="5059440" y="3013200"/>
            <a:ext cx="360" cy="35244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  <p:cxnSp>
        <p:nvCxnSpPr>
          <p:cNvPr id="99" name="Conector reto 30"/>
          <p:cNvCxnSpPr/>
          <p:nvPr/>
        </p:nvCxnSpPr>
        <p:spPr>
          <a:xfrm flipV="1">
            <a:off x="5059440" y="2219400"/>
            <a:ext cx="360" cy="352440"/>
          </a:xfrm>
          <a:prstGeom prst="straightConnector1">
            <a:avLst/>
          </a:prstGeom>
          <a:ln w="28575">
            <a:solidFill>
              <a:srgbClr val="0048F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Código DFS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879880" y="2520000"/>
            <a:ext cx="8520120" cy="34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Albert Sans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 rot="21581400">
            <a:off x="311040" y="1269720"/>
            <a:ext cx="3642120" cy="238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4140000" y="1076040"/>
            <a:ext cx="3875400" cy="270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327528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PT" sz="16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Lista de adjacência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(1,1) → (1,2)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(1,2) → (1,1)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(1,4) → (1,5), (2,4)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(1,5) → (1,4), (1,6)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(1,6) → (1,5), (2,6)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(2,4) → (1,4), (3,4)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(2,6) → (1,6), (3,6)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(3,1) → (3,2)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(3,2) → (3,1)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(3,4) → (2,4), (3,5)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(3,5) → (3,4), (3,6)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05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 (3,6) → (2,6), (3,5)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22500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Matriz de </a:t>
            </a:r>
            <a:r>
              <a:rPr lang="pt-PT" sz="16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adjacência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325560" y="756360"/>
            <a:ext cx="259272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127080"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Representação Implícita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m 5"/>
          <p:cNvPicPr/>
          <p:nvPr/>
        </p:nvPicPr>
        <p:blipFill>
          <a:blip r:embed="rId1">
            <a:alphaModFix amt="85000"/>
          </a:blip>
          <a:stretch/>
        </p:blipFill>
        <p:spPr>
          <a:xfrm>
            <a:off x="370080" y="1415520"/>
            <a:ext cx="1905120" cy="231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Elipse 10"/>
          <p:cNvSpPr/>
          <p:nvPr/>
        </p:nvSpPr>
        <p:spPr>
          <a:xfrm>
            <a:off x="7434720" y="2069640"/>
            <a:ext cx="114840" cy="14868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ector de Seta Reta 14"/>
          <p:cNvCxnSpPr/>
          <p:nvPr/>
        </p:nvCxnSpPr>
        <p:spPr>
          <a:xfrm flipV="1">
            <a:off x="7491960" y="1720080"/>
            <a:ext cx="360" cy="217440"/>
          </a:xfrm>
          <a:prstGeom prst="straightConnector1">
            <a:avLst/>
          </a:prstGeom>
          <a:ln>
            <a:solidFill>
              <a:srgbClr val="0048F1"/>
            </a:solidFill>
            <a:round/>
            <a:tailEnd len="med" type="triangle" w="med"/>
          </a:ln>
        </p:spPr>
      </p:cxnSp>
      <p:cxnSp>
        <p:nvCxnSpPr>
          <p:cNvPr id="110" name="Conector de Seta Reta 15"/>
          <p:cNvCxnSpPr/>
          <p:nvPr/>
        </p:nvCxnSpPr>
        <p:spPr>
          <a:xfrm>
            <a:off x="7680600" y="2145960"/>
            <a:ext cx="217440" cy="360"/>
          </a:xfrm>
          <a:prstGeom prst="straightConnector1">
            <a:avLst/>
          </a:prstGeom>
          <a:ln>
            <a:solidFill>
              <a:srgbClr val="0048F1"/>
            </a:solidFill>
            <a:round/>
            <a:tailEnd len="med" type="triangle" w="med"/>
          </a:ln>
        </p:spPr>
      </p:cxnSp>
      <p:cxnSp>
        <p:nvCxnSpPr>
          <p:cNvPr id="111" name="Conector de Seta Reta 17"/>
          <p:cNvCxnSpPr/>
          <p:nvPr/>
        </p:nvCxnSpPr>
        <p:spPr>
          <a:xfrm>
            <a:off x="7496280" y="2364840"/>
            <a:ext cx="360" cy="207000"/>
          </a:xfrm>
          <a:prstGeom prst="straightConnector1">
            <a:avLst/>
          </a:prstGeom>
          <a:ln>
            <a:solidFill>
              <a:srgbClr val="0048F1"/>
            </a:solidFill>
            <a:round/>
            <a:tailEnd len="med" type="triangle" w="med"/>
          </a:ln>
        </p:spPr>
      </p:cxnSp>
      <p:cxnSp>
        <p:nvCxnSpPr>
          <p:cNvPr id="112" name="Conector de Seta Reta 19"/>
          <p:cNvCxnSpPr/>
          <p:nvPr/>
        </p:nvCxnSpPr>
        <p:spPr>
          <a:xfrm flipH="1">
            <a:off x="7091640" y="2139840"/>
            <a:ext cx="212040" cy="6480"/>
          </a:xfrm>
          <a:prstGeom prst="straightConnector1">
            <a:avLst/>
          </a:prstGeom>
          <a:ln>
            <a:solidFill>
              <a:srgbClr val="0048F1"/>
            </a:solidFill>
            <a:round/>
            <a:tailEnd len="med" type="triangle" w="med"/>
          </a:ln>
        </p:spPr>
      </p:cxnSp>
      <p:pic>
        <p:nvPicPr>
          <p:cNvPr id="113" name="Imagem 23"/>
          <p:cNvPicPr/>
          <p:nvPr/>
        </p:nvPicPr>
        <p:blipFill>
          <a:blip r:embed="rId2"/>
          <a:stretch/>
        </p:blipFill>
        <p:spPr>
          <a:xfrm>
            <a:off x="6252840" y="2748960"/>
            <a:ext cx="2665440" cy="146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686520"/>
            <a:ext cx="3924000" cy="376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DFS</a:t>
            </a:r>
            <a:br>
              <a:rPr sz="2800"/>
            </a:br>
            <a:br>
              <a:rPr sz="2800"/>
            </a:b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889520" y="756360"/>
            <a:ext cx="392400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127080" indent="0" algn="ctr">
              <a:lnSpc>
                <a:spcPct val="115000"/>
              </a:lnSpc>
              <a:buNone/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2"/>
                </a:solidFill>
                <a:effectLst/>
                <a:uFillTx/>
                <a:latin typeface="Albert Sans"/>
                <a:ea typeface="Albert Sans"/>
              </a:rPr>
              <a:t>BFS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DeTexto 4"/>
          <p:cNvSpPr/>
          <p:nvPr/>
        </p:nvSpPr>
        <p:spPr>
          <a:xfrm>
            <a:off x="477360" y="1685160"/>
            <a:ext cx="3924000" cy="12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Explora um caminho até o máximo possível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Utiliza pilha ou recursão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Percorre completamente cada componente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DeTexto 5"/>
          <p:cNvSpPr/>
          <p:nvPr/>
        </p:nvSpPr>
        <p:spPr>
          <a:xfrm>
            <a:off x="5040000" y="1090080"/>
            <a:ext cx="3924000" cy="39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Explora os vértices por níveis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Utiliza uma fila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Percorre primeiro os vizinhos mais próximos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Garante menor caminho em grafos não ponderados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Não possui o problema de estouro da pilha de recursão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Validação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1465560" y="1337400"/>
            <a:ext cx="3754440" cy="334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LibreOffice/26.2.2.2$Windows_X86_64 LibreOffice_project/1f77d10d6938fd34972958f64b2bcfa54f8b1ba5</Application>
  <AppVersion>15.0000</AppVersion>
  <Words>235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2026-09-10T20:29:56Z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9</vt:i4>
  </property>
</Properties>
</file>